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ublic Sans Bold" charset="1" panose="00000000000000000000"/>
      <p:regular r:id="rId15"/>
    </p:embeddedFont>
    <p:embeddedFont>
      <p:font typeface="Playfair Display" charset="1" panose="00000500000000000000"/>
      <p:regular r:id="rId16"/>
    </p:embeddedFont>
    <p:embeddedFont>
      <p:font typeface="Public Sans" charset="1" panose="00000000000000000000"/>
      <p:regular r:id="rId17"/>
    </p:embeddedFont>
    <p:embeddedFont>
      <p:font typeface="Playfair Display Bold" charset="1" panose="00000800000000000000"/>
      <p:regular r:id="rId18"/>
    </p:embeddedFont>
    <p:embeddedFont>
      <p:font typeface="Playfair Display Italics" charset="1" panose="00000500000000000000"/>
      <p:regular r:id="rId19"/>
    </p:embeddedFont>
    <p:embeddedFont>
      <p:font typeface="Comic Sans" charset="1" panose="03000702030302020204"/>
      <p:regular r:id="rId20"/>
    </p:embeddedFont>
    <p:embeddedFont>
      <p:font typeface="Comic Sans Italics" charset="1" panose="03000702030302060204"/>
      <p:regular r:id="rId21"/>
    </p:embeddedFont>
    <p:embeddedFont>
      <p:font typeface="Canva Sans Bold" charset="1" panose="020B0803030501040103"/>
      <p:regular r:id="rId22"/>
    </p:embeddedFont>
    <p:embeddedFont>
      <p:font typeface="Comic Sans Bold Italics" charset="1" panose="0300090203030206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39009" y="2599948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71070" y="8207076"/>
            <a:ext cx="2854398" cy="1389504"/>
          </a:xfrm>
          <a:custGeom>
            <a:avLst/>
            <a:gdLst/>
            <a:ahLst/>
            <a:cxnLst/>
            <a:rect r="r" b="b" t="t" l="l"/>
            <a:pathLst>
              <a:path h="1389504" w="2854398">
                <a:moveTo>
                  <a:pt x="0" y="0"/>
                </a:moveTo>
                <a:lnTo>
                  <a:pt x="2854399" y="0"/>
                </a:lnTo>
                <a:lnTo>
                  <a:pt x="2854399" y="1389505"/>
                </a:lnTo>
                <a:lnTo>
                  <a:pt x="0" y="1389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00" t="0" r="-23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71070" y="5143500"/>
            <a:ext cx="3002183" cy="3149143"/>
          </a:xfrm>
          <a:custGeom>
            <a:avLst/>
            <a:gdLst/>
            <a:ahLst/>
            <a:cxnLst/>
            <a:rect r="r" b="b" t="t" l="l"/>
            <a:pathLst>
              <a:path h="3149143" w="3002183">
                <a:moveTo>
                  <a:pt x="0" y="0"/>
                </a:moveTo>
                <a:lnTo>
                  <a:pt x="3002183" y="0"/>
                </a:lnTo>
                <a:lnTo>
                  <a:pt x="3002183" y="3149143"/>
                </a:lnTo>
                <a:lnTo>
                  <a:pt x="0" y="3149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91995" y="3386091"/>
            <a:ext cx="2577608" cy="2057400"/>
          </a:xfrm>
          <a:custGeom>
            <a:avLst/>
            <a:gdLst/>
            <a:ahLst/>
            <a:cxnLst/>
            <a:rect r="r" b="b" t="t" l="l"/>
            <a:pathLst>
              <a:path h="2057400" w="2577608">
                <a:moveTo>
                  <a:pt x="0" y="0"/>
                </a:moveTo>
                <a:lnTo>
                  <a:pt x="2577608" y="0"/>
                </a:lnTo>
                <a:lnTo>
                  <a:pt x="257760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12360">
            <a:off x="13601993" y="4474777"/>
            <a:ext cx="594186" cy="1328691"/>
          </a:xfrm>
          <a:custGeom>
            <a:avLst/>
            <a:gdLst/>
            <a:ahLst/>
            <a:cxnLst/>
            <a:rect r="r" b="b" t="t" l="l"/>
            <a:pathLst>
              <a:path h="1328691" w="594186">
                <a:moveTo>
                  <a:pt x="0" y="0"/>
                </a:moveTo>
                <a:lnTo>
                  <a:pt x="594187" y="0"/>
                </a:lnTo>
                <a:lnTo>
                  <a:pt x="594187" y="1328691"/>
                </a:lnTo>
                <a:lnTo>
                  <a:pt x="0" y="1328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87310" y="8793862"/>
            <a:ext cx="2458760" cy="1493138"/>
          </a:xfrm>
          <a:custGeom>
            <a:avLst/>
            <a:gdLst/>
            <a:ahLst/>
            <a:cxnLst/>
            <a:rect r="r" b="b" t="t" l="l"/>
            <a:pathLst>
              <a:path h="1493138" w="2458760">
                <a:moveTo>
                  <a:pt x="0" y="0"/>
                </a:moveTo>
                <a:lnTo>
                  <a:pt x="2458760" y="0"/>
                </a:lnTo>
                <a:lnTo>
                  <a:pt x="2458760" y="1493138"/>
                </a:lnTo>
                <a:lnTo>
                  <a:pt x="0" y="14931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43105">
            <a:off x="14199907" y="7092052"/>
            <a:ext cx="600301" cy="657700"/>
          </a:xfrm>
          <a:custGeom>
            <a:avLst/>
            <a:gdLst/>
            <a:ahLst/>
            <a:cxnLst/>
            <a:rect r="r" b="b" t="t" l="l"/>
            <a:pathLst>
              <a:path h="657700" w="600301">
                <a:moveTo>
                  <a:pt x="0" y="0"/>
                </a:moveTo>
                <a:lnTo>
                  <a:pt x="600301" y="0"/>
                </a:lnTo>
                <a:lnTo>
                  <a:pt x="600301" y="657699"/>
                </a:lnTo>
                <a:lnTo>
                  <a:pt x="0" y="6576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24605" y="6235243"/>
            <a:ext cx="2910286" cy="4114800"/>
          </a:xfrm>
          <a:custGeom>
            <a:avLst/>
            <a:gdLst/>
            <a:ahLst/>
            <a:cxnLst/>
            <a:rect r="r" b="b" t="t" l="l"/>
            <a:pathLst>
              <a:path h="4114800" w="2910286">
                <a:moveTo>
                  <a:pt x="0" y="0"/>
                </a:moveTo>
                <a:lnTo>
                  <a:pt x="2910286" y="0"/>
                </a:lnTo>
                <a:lnTo>
                  <a:pt x="2910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1146" y="3017679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OOPS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17" y="1276350"/>
            <a:ext cx="17693252" cy="11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7"/>
              </a:lnSpc>
            </a:pPr>
            <a:r>
              <a:rPr lang="en-US" sz="9074" spc="4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Expenditure Management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7607761"/>
            <a:ext cx="7862435" cy="217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PRESENTED BY :-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Khushi Yadav             500119315           Batch-2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Priyambad Suman   500125300          Batch-1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FACULTY NAME:-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Mr. Satyam Tiwari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19752" y="7621681"/>
            <a:ext cx="7068248" cy="2665319"/>
          </a:xfrm>
          <a:custGeom>
            <a:avLst/>
            <a:gdLst/>
            <a:ahLst/>
            <a:cxnLst/>
            <a:rect r="r" b="b" t="t" l="l"/>
            <a:pathLst>
              <a:path h="2665319" w="7068248">
                <a:moveTo>
                  <a:pt x="0" y="0"/>
                </a:moveTo>
                <a:lnTo>
                  <a:pt x="7068248" y="0"/>
                </a:lnTo>
                <a:lnTo>
                  <a:pt x="7068248" y="2665319"/>
                </a:lnTo>
                <a:lnTo>
                  <a:pt x="0" y="266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86025" y="7697073"/>
            <a:ext cx="3533727" cy="2589927"/>
          </a:xfrm>
          <a:custGeom>
            <a:avLst/>
            <a:gdLst/>
            <a:ahLst/>
            <a:cxnLst/>
            <a:rect r="r" b="b" t="t" l="l"/>
            <a:pathLst>
              <a:path h="2589927" w="3533727">
                <a:moveTo>
                  <a:pt x="0" y="0"/>
                </a:moveTo>
                <a:lnTo>
                  <a:pt x="3533727" y="0"/>
                </a:lnTo>
                <a:lnTo>
                  <a:pt x="3533727" y="2589927"/>
                </a:lnTo>
                <a:lnTo>
                  <a:pt x="0" y="2589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69889"/>
            <a:ext cx="12686926" cy="113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6"/>
              </a:lnSpc>
            </a:pPr>
            <a:r>
              <a:rPr lang="en-US" sz="7074" spc="35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6847" y="2559675"/>
            <a:ext cx="17911153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Expenditure Management System (EMS) is designed to help people and organizations keep track of their spending more effectively.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6847" y="3948067"/>
            <a:ext cx="17911153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Many existing systems are complicated, hard to use, and don’t provide real-time updates, which can lead to poor Management and sometimes to poor financial decisions.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6847" y="5727438"/>
            <a:ext cx="17911153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EMS basically aims to solve these problems by offering an easy-to-use platform that combines budgeting, expense tracking, and automatic alerts, making it simpler for users to manage their finances and improve their financial well-being.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08878" y="533080"/>
            <a:ext cx="953631" cy="1227681"/>
          </a:xfrm>
          <a:custGeom>
            <a:avLst/>
            <a:gdLst/>
            <a:ahLst/>
            <a:cxnLst/>
            <a:rect r="r" b="b" t="t" l="l"/>
            <a:pathLst>
              <a:path h="1227681" w="953631">
                <a:moveTo>
                  <a:pt x="0" y="0"/>
                </a:moveTo>
                <a:lnTo>
                  <a:pt x="953631" y="0"/>
                </a:lnTo>
                <a:lnTo>
                  <a:pt x="953631" y="1227681"/>
                </a:lnTo>
                <a:lnTo>
                  <a:pt x="0" y="1227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2023" y="942975"/>
            <a:ext cx="11472040" cy="77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6"/>
              </a:lnSpc>
              <a:spcBef>
                <a:spcPct val="0"/>
              </a:spcBef>
            </a:pPr>
            <a:r>
              <a:rPr lang="en-US" b="true" sz="4540" spc="103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PROS OF THE PRESENT EMS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7863" y="2019140"/>
            <a:ext cx="16587077" cy="343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628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Simple and User-Friendly Interface:-</a:t>
            </a:r>
          </a:p>
          <a:p>
            <a:pPr algn="l" marL="610775" indent="-305387" lvl="1">
              <a:lnSpc>
                <a:spcPts val="3960"/>
              </a:lnSpc>
              <a:buFont typeface="Arial"/>
              <a:buChar char="•"/>
            </a:pPr>
            <a:r>
              <a:rPr lang="en-US" sz="2828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Java Swing GUI ensures easy navigation even for non-technical users.</a:t>
            </a:r>
          </a:p>
          <a:p>
            <a:pPr algn="l" marL="610775" indent="-305387" lvl="1">
              <a:lnSpc>
                <a:spcPts val="3960"/>
              </a:lnSpc>
              <a:buFont typeface="Arial"/>
              <a:buChar char="•"/>
            </a:pPr>
            <a:r>
              <a:rPr lang="en-US" sz="2828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Clean design 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</a:p>
          <a:p>
            <a:pPr algn="ctr">
              <a:lnSpc>
                <a:spcPts val="396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37863" y="3220749"/>
            <a:ext cx="16438987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Offline, Secure &amp; Lightweight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Runs completely offline – no internet required.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Data is stored locally; ideal for personal usage.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Lightweight and fast; works even on low-end PCs.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37863" y="5909422"/>
            <a:ext cx="17116095" cy="241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2778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All-in-One Money Manager</a:t>
            </a:r>
          </a:p>
          <a:p>
            <a:pPr algn="l" marL="599909" indent="-299955" lvl="1">
              <a:lnSpc>
                <a:spcPts val="3890"/>
              </a:lnSpc>
              <a:buFont typeface="Arial"/>
              <a:buChar char="•"/>
            </a:pPr>
            <a:r>
              <a:rPr lang="en-US" sz="2778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Users can set budgets, track daily expenses, generate reports, and even split expenses – all in one place.</a:t>
            </a:r>
          </a:p>
          <a:p>
            <a:pPr algn="l">
              <a:lnSpc>
                <a:spcPts val="3890"/>
              </a:lnSpc>
            </a:pPr>
          </a:p>
          <a:p>
            <a:pPr algn="l">
              <a:lnSpc>
                <a:spcPts val="389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7863" y="7604821"/>
            <a:ext cx="16587077" cy="186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0"/>
              </a:lnSpc>
            </a:pPr>
            <a:r>
              <a:rPr lang="en-US" sz="2628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Simple and User-Friendly Interface:-</a:t>
            </a:r>
          </a:p>
          <a:p>
            <a:pPr algn="just" marL="567596" indent="-283798" lvl="1">
              <a:lnSpc>
                <a:spcPts val="3680"/>
              </a:lnSpc>
              <a:buFont typeface="Arial"/>
              <a:buChar char="•"/>
            </a:pPr>
            <a:r>
              <a:rPr lang="en-US" sz="2628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Java Swing GUI ensures easy navigation even for non-technical users.</a:t>
            </a:r>
          </a:p>
          <a:p>
            <a:pPr algn="just" marL="567596" indent="-283798" lvl="1">
              <a:lnSpc>
                <a:spcPts val="3680"/>
              </a:lnSpc>
              <a:buFont typeface="Arial"/>
              <a:buChar char="•"/>
            </a:pPr>
            <a:r>
              <a:rPr lang="en-US" sz="2628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Clean design</a:t>
            </a:r>
            <a:r>
              <a:rPr lang="en-US" b="true" sz="2628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</a:p>
          <a:p>
            <a:pPr algn="just">
              <a:lnSpc>
                <a:spcPts val="36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120901" y="0"/>
            <a:ext cx="1746928" cy="1799270"/>
          </a:xfrm>
          <a:custGeom>
            <a:avLst/>
            <a:gdLst/>
            <a:ahLst/>
            <a:cxnLst/>
            <a:rect r="r" b="b" t="t" l="l"/>
            <a:pathLst>
              <a:path h="1799270" w="1746928">
                <a:moveTo>
                  <a:pt x="0" y="0"/>
                </a:moveTo>
                <a:lnTo>
                  <a:pt x="1746928" y="0"/>
                </a:lnTo>
                <a:lnTo>
                  <a:pt x="1746928" y="1799270"/>
                </a:lnTo>
                <a:lnTo>
                  <a:pt x="0" y="1799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29325" y="618736"/>
            <a:ext cx="1947840" cy="1097993"/>
          </a:xfrm>
          <a:custGeom>
            <a:avLst/>
            <a:gdLst/>
            <a:ahLst/>
            <a:cxnLst/>
            <a:rect r="r" b="b" t="t" l="l"/>
            <a:pathLst>
              <a:path h="1097993" w="1947840">
                <a:moveTo>
                  <a:pt x="0" y="0"/>
                </a:moveTo>
                <a:lnTo>
                  <a:pt x="1947840" y="0"/>
                </a:lnTo>
                <a:lnTo>
                  <a:pt x="1947840" y="1097993"/>
                </a:lnTo>
                <a:lnTo>
                  <a:pt x="0" y="10979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023" y="2109574"/>
            <a:ext cx="17116095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Custom Categories &amp; Filters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Not just fixed categories – users can create and manage their own expense types.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Search and filter options make it easy to find specific expenses.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85953" y="3878935"/>
            <a:ext cx="17116095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Split Expense Tracker (Like Splitwise)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Helps in tracking shared bills with friends or roommates.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Shows outstanding debts and credits clearly.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22023" y="942975"/>
            <a:ext cx="11472040" cy="77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6"/>
              </a:lnSpc>
              <a:spcBef>
                <a:spcPct val="0"/>
              </a:spcBef>
            </a:pPr>
            <a:r>
              <a:rPr lang="en-US" b="true" sz="4540" spc="103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PROS OF THE PRESENT EMS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023" y="5789015"/>
            <a:ext cx="17116095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Exportable Reports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Easy to generate and save reports as .csv files for backup or sharing.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5953" y="7306231"/>
            <a:ext cx="17116095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Educates and Empowers Users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     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Promotes mindful spending by showing where money goes.</a:t>
            </a:r>
          </a:p>
          <a:p>
            <a:pPr algn="l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Especially helpful for students, interns, and early professionals.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34387" y="1616772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0472" y="3589217"/>
            <a:ext cx="6100919" cy="6549067"/>
            <a:chOff x="0" y="0"/>
            <a:chExt cx="1606826" cy="1724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826" cy="1724857"/>
            </a:xfrm>
            <a:custGeom>
              <a:avLst/>
              <a:gdLst/>
              <a:ahLst/>
              <a:cxnLst/>
              <a:rect r="r" b="b" t="t" l="l"/>
              <a:pathLst>
                <a:path h="1724857" w="1606826">
                  <a:moveTo>
                    <a:pt x="64718" y="0"/>
                  </a:moveTo>
                  <a:lnTo>
                    <a:pt x="1542108" y="0"/>
                  </a:lnTo>
                  <a:cubicBezTo>
                    <a:pt x="1577851" y="0"/>
                    <a:pt x="1606826" y="28975"/>
                    <a:pt x="1606826" y="64718"/>
                  </a:cubicBezTo>
                  <a:lnTo>
                    <a:pt x="1606826" y="1660140"/>
                  </a:lnTo>
                  <a:cubicBezTo>
                    <a:pt x="1606826" y="1677304"/>
                    <a:pt x="1600008" y="1693765"/>
                    <a:pt x="1587871" y="1705902"/>
                  </a:cubicBezTo>
                  <a:cubicBezTo>
                    <a:pt x="1575734" y="1718039"/>
                    <a:pt x="1559273" y="1724857"/>
                    <a:pt x="1542108" y="1724857"/>
                  </a:cubicBezTo>
                  <a:lnTo>
                    <a:pt x="64718" y="1724857"/>
                  </a:lnTo>
                  <a:cubicBezTo>
                    <a:pt x="28975" y="1724857"/>
                    <a:pt x="0" y="1695882"/>
                    <a:pt x="0" y="1660140"/>
                  </a:cubicBezTo>
                  <a:lnTo>
                    <a:pt x="0" y="64718"/>
                  </a:lnTo>
                  <a:cubicBezTo>
                    <a:pt x="0" y="47554"/>
                    <a:pt x="6818" y="31092"/>
                    <a:pt x="18955" y="18955"/>
                  </a:cubicBezTo>
                  <a:cubicBezTo>
                    <a:pt x="31092" y="6818"/>
                    <a:pt x="47554" y="0"/>
                    <a:pt x="64718" y="0"/>
                  </a:cubicBezTo>
                  <a:close/>
                </a:path>
              </a:pathLst>
            </a:custGeom>
            <a:solidFill>
              <a:srgbClr val="FFDC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06826" cy="1772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72721" y="6094643"/>
            <a:ext cx="377395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501104" y="416742"/>
            <a:ext cx="1378243" cy="1223917"/>
          </a:xfrm>
          <a:custGeom>
            <a:avLst/>
            <a:gdLst/>
            <a:ahLst/>
            <a:cxnLst/>
            <a:rect r="r" b="b" t="t" l="l"/>
            <a:pathLst>
              <a:path h="1223917" w="1378243">
                <a:moveTo>
                  <a:pt x="0" y="0"/>
                </a:moveTo>
                <a:lnTo>
                  <a:pt x="1378244" y="0"/>
                </a:lnTo>
                <a:lnTo>
                  <a:pt x="1378244" y="1223916"/>
                </a:lnTo>
                <a:lnTo>
                  <a:pt x="0" y="122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20782" y="4262981"/>
            <a:ext cx="4884535" cy="3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320782" y="7678505"/>
            <a:ext cx="4988091" cy="38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267770" y="5754296"/>
            <a:ext cx="4943118" cy="38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377012" y="6218529"/>
            <a:ext cx="4859750" cy="3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701003" y="2014064"/>
            <a:ext cx="10106716" cy="984603"/>
            <a:chOff x="0" y="0"/>
            <a:chExt cx="13475622" cy="131280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76200"/>
              <a:ext cx="13431729" cy="538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2"/>
                </a:lnSpc>
              </a:pPr>
              <a:r>
                <a:rPr lang="en-US" sz="3035" i="true" spc="15">
                  <a:solidFill>
                    <a:srgbClr val="2B2C30"/>
                  </a:solidFill>
                  <a:latin typeface="Playfair Display Italics"/>
                  <a:ea typeface="Playfair Display Italics"/>
                  <a:cs typeface="Playfair Display Italics"/>
                  <a:sym typeface="Playfair Display Italics"/>
                </a:rPr>
                <a:t>We have used the basic concepts of OOPS which includes:-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44548"/>
              <a:ext cx="13475622" cy="668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03"/>
                </a:lnSpc>
              </a:pPr>
              <a:r>
                <a:rPr lang="en-US" sz="2931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Encapsulation:-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320782" y="2494744"/>
            <a:ext cx="4890278" cy="3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AutoShape 16" id="16"/>
          <p:cNvSpPr/>
          <p:nvPr/>
        </p:nvSpPr>
        <p:spPr>
          <a:xfrm>
            <a:off x="9124950" y="2798284"/>
            <a:ext cx="19050" cy="734000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693712" y="3846392"/>
            <a:ext cx="7913884" cy="6162030"/>
            <a:chOff x="0" y="0"/>
            <a:chExt cx="2084315" cy="16229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84315" cy="1622921"/>
            </a:xfrm>
            <a:custGeom>
              <a:avLst/>
              <a:gdLst/>
              <a:ahLst/>
              <a:cxnLst/>
              <a:rect r="r" b="b" t="t" l="l"/>
              <a:pathLst>
                <a:path h="1622921" w="2084315">
                  <a:moveTo>
                    <a:pt x="49892" y="0"/>
                  </a:moveTo>
                  <a:lnTo>
                    <a:pt x="2034423" y="0"/>
                  </a:lnTo>
                  <a:cubicBezTo>
                    <a:pt x="2061978" y="0"/>
                    <a:pt x="2084315" y="22337"/>
                    <a:pt x="2084315" y="49892"/>
                  </a:cubicBezTo>
                  <a:lnTo>
                    <a:pt x="2084315" y="1573030"/>
                  </a:lnTo>
                  <a:cubicBezTo>
                    <a:pt x="2084315" y="1586262"/>
                    <a:pt x="2079059" y="1598952"/>
                    <a:pt x="2069702" y="1608308"/>
                  </a:cubicBezTo>
                  <a:cubicBezTo>
                    <a:pt x="2060346" y="1617665"/>
                    <a:pt x="2047655" y="1622921"/>
                    <a:pt x="2034423" y="1622921"/>
                  </a:cubicBezTo>
                  <a:lnTo>
                    <a:pt x="49892" y="1622921"/>
                  </a:lnTo>
                  <a:cubicBezTo>
                    <a:pt x="36660" y="1622921"/>
                    <a:pt x="23969" y="1617665"/>
                    <a:pt x="14613" y="1608308"/>
                  </a:cubicBezTo>
                  <a:cubicBezTo>
                    <a:pt x="5256" y="1598952"/>
                    <a:pt x="0" y="1586262"/>
                    <a:pt x="0" y="1573030"/>
                  </a:cubicBezTo>
                  <a:lnTo>
                    <a:pt x="0" y="49892"/>
                  </a:lnTo>
                  <a:cubicBezTo>
                    <a:pt x="0" y="36660"/>
                    <a:pt x="5256" y="23969"/>
                    <a:pt x="14613" y="14613"/>
                  </a:cubicBezTo>
                  <a:cubicBezTo>
                    <a:pt x="23969" y="5256"/>
                    <a:pt x="36660" y="0"/>
                    <a:pt x="49892" y="0"/>
                  </a:cubicBezTo>
                  <a:close/>
                </a:path>
              </a:pathLst>
            </a:custGeom>
            <a:solidFill>
              <a:srgbClr val="FFDC4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84315" cy="1670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574178" y="4767088"/>
            <a:ext cx="5556961" cy="3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636616" y="6314274"/>
            <a:ext cx="5819083" cy="3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09972" y="4877322"/>
            <a:ext cx="5121961" cy="3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630789" y="3798767"/>
            <a:ext cx="7083865" cy="684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*Class: ⁠ ExpenseEntry.java ⁠*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⁠ java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private final String category;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private final double amount;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private final LocalDate date;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private final String description;</a:t>
            </a:r>
          </a:p>
          <a:p>
            <a:pPr algn="l">
              <a:lnSpc>
                <a:spcPts val="3410"/>
              </a:lnSpc>
            </a:pP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public double getAmount() {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return amount;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}</a:t>
            </a:r>
          </a:p>
          <a:p>
            <a:pPr algn="l">
              <a:lnSpc>
                <a:spcPts val="3410"/>
              </a:lnSpc>
            </a:pP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public String getCategory() {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return category;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}</a:t>
            </a:r>
          </a:p>
          <a:p>
            <a:pPr algn="l">
              <a:lnSpc>
                <a:spcPts val="3410"/>
              </a:lnSpc>
            </a:pPr>
            <a:r>
              <a:rPr lang="en-US" sz="2435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 ⁠</a:t>
            </a:r>
          </a:p>
          <a:p>
            <a:pPr algn="l">
              <a:lnSpc>
                <a:spcPts val="341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690987" y="2582565"/>
            <a:ext cx="5302346" cy="3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00472" y="583978"/>
            <a:ext cx="16527499" cy="98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  <a:spcBef>
                <a:spcPct val="0"/>
              </a:spcBef>
            </a:pPr>
            <a:r>
              <a:rPr lang="en-US" b="true" sz="5782" spc="131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CONCEPTS USED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9972" y="6859155"/>
            <a:ext cx="5044390" cy="3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504293" y="2114235"/>
            <a:ext cx="5210360" cy="132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sz="2524" spc="12">
                <a:solidFill>
                  <a:srgbClr val="2B2C30"/>
                </a:solidFill>
                <a:latin typeface="Comic Sans"/>
                <a:ea typeface="Comic Sans"/>
                <a:cs typeface="Comic Sans"/>
                <a:sym typeface="Comic Sans"/>
              </a:rPr>
              <a:t>⁠Hiding internal data using ⁠ private ⁠ fields + ⁠ public ⁠ getters/setters</a:t>
            </a:r>
          </a:p>
          <a:p>
            <a:pPr algn="ctr">
              <a:lnSpc>
                <a:spcPts val="3534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172721" y="2467174"/>
            <a:ext cx="10911013" cy="53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  <a:spcBef>
                <a:spcPct val="0"/>
              </a:spcBef>
            </a:pPr>
            <a:r>
              <a:rPr lang="en-US" b="true" sz="3075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Abstraction:-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74581" y="2510020"/>
            <a:ext cx="6413419" cy="167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0"/>
              </a:lnSpc>
            </a:pPr>
            <a:r>
              <a:rPr lang="en-US" sz="2535" i="true" spc="12">
                <a:solidFill>
                  <a:srgbClr val="2B2C30"/>
                </a:solidFill>
                <a:latin typeface="Comic Sans Italics"/>
                <a:ea typeface="Comic Sans Italics"/>
                <a:cs typeface="Comic Sans Italics"/>
                <a:sym typeface="Comic Sans Italics"/>
              </a:rPr>
              <a:t>⁠Hiding implementation details and exposing only meaningful interfaces (via abstract classes or interfaces)</a:t>
            </a:r>
          </a:p>
          <a:p>
            <a:pPr algn="l">
              <a:lnSpc>
                <a:spcPts val="271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208688" y="3855917"/>
            <a:ext cx="6956293" cy="651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*Class: ⁠ User.java ⁠*</a:t>
            </a: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⁠ java</a:t>
            </a: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public abstract class User {</a:t>
            </a: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protected String username;</a:t>
            </a: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protected String password;</a:t>
            </a:r>
          </a:p>
          <a:p>
            <a:pPr algn="just">
              <a:lnSpc>
                <a:spcPts val="3036"/>
              </a:lnSpc>
            </a:pP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public abstract void displayInfo();</a:t>
            </a: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}</a:t>
            </a:r>
          </a:p>
          <a:p>
            <a:pPr algn="just">
              <a:lnSpc>
                <a:spcPts val="7244"/>
              </a:lnSpc>
            </a:pPr>
            <a:r>
              <a:rPr lang="en-US" sz="5174" i="true" spc="25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 ⁠</a:t>
            </a:r>
          </a:p>
          <a:p>
            <a:pPr algn="just">
              <a:lnSpc>
                <a:spcPts val="3036"/>
              </a:lnSpc>
            </a:pP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*Usage:*</a:t>
            </a: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⁠ java</a:t>
            </a: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User user = new RegularUser("john", "1234");</a:t>
            </a:r>
          </a:p>
          <a:p>
            <a:pPr algn="just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user.displayInfo(); // abstract method, overridden in child</a:t>
            </a:r>
          </a:p>
          <a:p>
            <a:pPr algn="ctr">
              <a:lnSpc>
                <a:spcPts val="3036"/>
              </a:lnSpc>
            </a:pPr>
            <a:r>
              <a:rPr lang="en-US" sz="2168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 ⁠</a:t>
            </a:r>
          </a:p>
          <a:p>
            <a:pPr algn="ctr">
              <a:lnSpc>
                <a:spcPts val="24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9730" y="36336"/>
            <a:ext cx="16527499" cy="98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  <a:spcBef>
                <a:spcPct val="0"/>
              </a:spcBef>
            </a:pPr>
            <a:r>
              <a:rPr lang="en-US" b="true" sz="5782" spc="131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CONCEPTS USED 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309730" y="1222962"/>
            <a:ext cx="173106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8738326" y="1759774"/>
            <a:ext cx="0" cy="78724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09730" y="3260688"/>
            <a:ext cx="7730550" cy="5429250"/>
            <a:chOff x="0" y="0"/>
            <a:chExt cx="2036030" cy="1429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6030" cy="1429926"/>
            </a:xfrm>
            <a:custGeom>
              <a:avLst/>
              <a:gdLst/>
              <a:ahLst/>
              <a:cxnLst/>
              <a:rect r="r" b="b" t="t" l="l"/>
              <a:pathLst>
                <a:path h="1429926" w="2036030">
                  <a:moveTo>
                    <a:pt x="51075" y="0"/>
                  </a:moveTo>
                  <a:lnTo>
                    <a:pt x="1984955" y="0"/>
                  </a:lnTo>
                  <a:cubicBezTo>
                    <a:pt x="1998500" y="0"/>
                    <a:pt x="2011492" y="5381"/>
                    <a:pt x="2021070" y="14960"/>
                  </a:cubicBezTo>
                  <a:cubicBezTo>
                    <a:pt x="2030649" y="24538"/>
                    <a:pt x="2036030" y="37529"/>
                    <a:pt x="2036030" y="51075"/>
                  </a:cubicBezTo>
                  <a:lnTo>
                    <a:pt x="2036030" y="1378851"/>
                  </a:lnTo>
                  <a:cubicBezTo>
                    <a:pt x="2036030" y="1392397"/>
                    <a:pt x="2030649" y="1405388"/>
                    <a:pt x="2021070" y="1414966"/>
                  </a:cubicBezTo>
                  <a:cubicBezTo>
                    <a:pt x="2011492" y="1424545"/>
                    <a:pt x="1998500" y="1429926"/>
                    <a:pt x="1984955" y="1429926"/>
                  </a:cubicBezTo>
                  <a:lnTo>
                    <a:pt x="51075" y="1429926"/>
                  </a:lnTo>
                  <a:cubicBezTo>
                    <a:pt x="37529" y="1429926"/>
                    <a:pt x="24538" y="1424545"/>
                    <a:pt x="14960" y="1414966"/>
                  </a:cubicBezTo>
                  <a:cubicBezTo>
                    <a:pt x="5381" y="1405388"/>
                    <a:pt x="0" y="1392397"/>
                    <a:pt x="0" y="1378851"/>
                  </a:cubicBezTo>
                  <a:lnTo>
                    <a:pt x="0" y="51075"/>
                  </a:lnTo>
                  <a:cubicBezTo>
                    <a:pt x="0" y="37529"/>
                    <a:pt x="5381" y="24538"/>
                    <a:pt x="14960" y="14960"/>
                  </a:cubicBezTo>
                  <a:cubicBezTo>
                    <a:pt x="24538" y="5381"/>
                    <a:pt x="37529" y="0"/>
                    <a:pt x="51075" y="0"/>
                  </a:cubicBezTo>
                  <a:close/>
                </a:path>
              </a:pathLst>
            </a:custGeom>
            <a:solidFill>
              <a:srgbClr val="FFDC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36030" cy="1477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86412" y="3465295"/>
            <a:ext cx="8586107" cy="3086100"/>
            <a:chOff x="0" y="0"/>
            <a:chExt cx="2261361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361" cy="812800"/>
            </a:xfrm>
            <a:custGeom>
              <a:avLst/>
              <a:gdLst/>
              <a:ahLst/>
              <a:cxnLst/>
              <a:rect r="r" b="b" t="t" l="l"/>
              <a:pathLst>
                <a:path h="812800" w="2261361">
                  <a:moveTo>
                    <a:pt x="45986" y="0"/>
                  </a:moveTo>
                  <a:lnTo>
                    <a:pt x="2215376" y="0"/>
                  </a:lnTo>
                  <a:cubicBezTo>
                    <a:pt x="2240773" y="0"/>
                    <a:pt x="2261361" y="20588"/>
                    <a:pt x="2261361" y="45986"/>
                  </a:cubicBezTo>
                  <a:lnTo>
                    <a:pt x="2261361" y="766814"/>
                  </a:lnTo>
                  <a:cubicBezTo>
                    <a:pt x="2261361" y="792212"/>
                    <a:pt x="2240773" y="812800"/>
                    <a:pt x="2215376" y="812800"/>
                  </a:cubicBezTo>
                  <a:lnTo>
                    <a:pt x="45986" y="812800"/>
                  </a:lnTo>
                  <a:cubicBezTo>
                    <a:pt x="20588" y="812800"/>
                    <a:pt x="0" y="792212"/>
                    <a:pt x="0" y="766814"/>
                  </a:cubicBezTo>
                  <a:lnTo>
                    <a:pt x="0" y="45986"/>
                  </a:lnTo>
                  <a:cubicBezTo>
                    <a:pt x="0" y="20588"/>
                    <a:pt x="20588" y="0"/>
                    <a:pt x="45986" y="0"/>
                  </a:cubicBezTo>
                  <a:close/>
                </a:path>
              </a:pathLst>
            </a:custGeom>
            <a:solidFill>
              <a:srgbClr val="FFDC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6136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09730" y="1693099"/>
            <a:ext cx="2885078" cy="53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  <a:spcBef>
                <a:spcPct val="0"/>
              </a:spcBef>
            </a:pPr>
            <a:r>
              <a:rPr lang="en-US" b="true" sz="3075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Inheritance:-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80134" y="1693099"/>
            <a:ext cx="3272115" cy="53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  <a:spcBef>
                <a:spcPct val="0"/>
              </a:spcBef>
            </a:pPr>
            <a:r>
              <a:rPr lang="en-US" b="true" sz="3075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Polymorphism:-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70866" y="1702624"/>
            <a:ext cx="5003599" cy="158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2B2C30"/>
                </a:solidFill>
                <a:latin typeface="Comic Sans Italics"/>
                <a:ea typeface="Comic Sans Italics"/>
                <a:cs typeface="Comic Sans Italics"/>
                <a:sym typeface="Comic Sans Italics"/>
              </a:rPr>
              <a:t>⁠Child class inherits fields and methods from a parent class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18644" y="1702624"/>
            <a:ext cx="4059140" cy="211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0"/>
              </a:lnSpc>
            </a:pPr>
            <a:r>
              <a:rPr lang="en-US" sz="3035" i="true" spc="15">
                <a:solidFill>
                  <a:srgbClr val="2B2C30"/>
                </a:solidFill>
                <a:latin typeface="Comic Sans Italics"/>
                <a:ea typeface="Comic Sans Italics"/>
                <a:cs typeface="Comic Sans Italics"/>
                <a:sym typeface="Comic Sans Italics"/>
              </a:rPr>
              <a:t>⁠Same method behaves differently depending on the object type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12694" y="3631803"/>
            <a:ext cx="7131472" cy="505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*Class: ⁠ RegularUser.java ⁠ inherits from ⁠ User ⁠*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⁠ java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public class RegularUser extends User {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public RegularUser(String username, String password) {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    super(username, password); // calls User constructor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}</a:t>
            </a:r>
          </a:p>
          <a:p>
            <a:pPr algn="just">
              <a:lnSpc>
                <a:spcPts val="3130"/>
              </a:lnSpc>
            </a:pP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@Override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public void displayInfo() {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    System.out.println("User: " + username);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}</a:t>
            </a:r>
          </a:p>
          <a:p>
            <a:pPr algn="just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}</a:t>
            </a:r>
          </a:p>
          <a:p>
            <a:pPr algn="just">
              <a:lnSpc>
                <a:spcPts val="313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602187" y="3631803"/>
            <a:ext cx="8018190" cy="271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*Class: ⁠ User ⁠ &amp; ⁠ RegularUser ⁠*</a:t>
            </a:r>
          </a:p>
          <a:p>
            <a:pPr algn="l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⁠ java</a:t>
            </a:r>
          </a:p>
          <a:p>
            <a:pPr algn="l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User user = new RegularUser("test", "pass123");</a:t>
            </a:r>
          </a:p>
          <a:p>
            <a:pPr algn="l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user.displayInfo(); // runtime polymorphism (method overriding)</a:t>
            </a:r>
          </a:p>
          <a:p>
            <a:pPr algn="l">
              <a:lnSpc>
                <a:spcPts val="3130"/>
              </a:lnSpc>
            </a:pPr>
            <a:r>
              <a:rPr lang="en-US" sz="2235" i="true" spc="1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 ⁠</a:t>
            </a:r>
          </a:p>
          <a:p>
            <a:pPr algn="l">
              <a:lnSpc>
                <a:spcPts val="3130"/>
              </a:lnSpc>
            </a:pPr>
          </a:p>
          <a:p>
            <a:pPr algn="l">
              <a:lnSpc>
                <a:spcPts val="3130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190887" y="0"/>
            <a:ext cx="1077736" cy="1222962"/>
          </a:xfrm>
          <a:custGeom>
            <a:avLst/>
            <a:gdLst/>
            <a:ahLst/>
            <a:cxnLst/>
            <a:rect r="r" b="b" t="t" l="l"/>
            <a:pathLst>
              <a:path h="1222962" w="1077736">
                <a:moveTo>
                  <a:pt x="0" y="0"/>
                </a:moveTo>
                <a:lnTo>
                  <a:pt x="1077736" y="0"/>
                </a:lnTo>
                <a:lnTo>
                  <a:pt x="1077736" y="1222962"/>
                </a:lnTo>
                <a:lnTo>
                  <a:pt x="0" y="1222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482" y="286523"/>
            <a:ext cx="16527499" cy="98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  <a:spcBef>
                <a:spcPct val="0"/>
              </a:spcBef>
            </a:pPr>
            <a:r>
              <a:rPr lang="en-US" b="true" sz="5782" spc="131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CONCEPTS USED </a:t>
            </a:r>
          </a:p>
        </p:txBody>
      </p:sp>
      <p:sp>
        <p:nvSpPr>
          <p:cNvPr name="AutoShape 3" id="3"/>
          <p:cNvSpPr/>
          <p:nvPr/>
        </p:nvSpPr>
        <p:spPr>
          <a:xfrm>
            <a:off x="631482" y="1273125"/>
            <a:ext cx="1722884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7914973" y="1393123"/>
            <a:ext cx="162963" cy="84176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66667" y="3600450"/>
            <a:ext cx="7037957" cy="3656471"/>
            <a:chOff x="0" y="0"/>
            <a:chExt cx="1853618" cy="9630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3618" cy="963021"/>
            </a:xfrm>
            <a:custGeom>
              <a:avLst/>
              <a:gdLst/>
              <a:ahLst/>
              <a:cxnLst/>
              <a:rect r="r" b="b" t="t" l="l"/>
              <a:pathLst>
                <a:path h="963021" w="1853618">
                  <a:moveTo>
                    <a:pt x="56101" y="0"/>
                  </a:moveTo>
                  <a:lnTo>
                    <a:pt x="1797517" y="0"/>
                  </a:lnTo>
                  <a:cubicBezTo>
                    <a:pt x="1812396" y="0"/>
                    <a:pt x="1826666" y="5911"/>
                    <a:pt x="1837187" y="16432"/>
                  </a:cubicBezTo>
                  <a:cubicBezTo>
                    <a:pt x="1847708" y="26953"/>
                    <a:pt x="1853618" y="41222"/>
                    <a:pt x="1853618" y="56101"/>
                  </a:cubicBezTo>
                  <a:lnTo>
                    <a:pt x="1853618" y="906920"/>
                  </a:lnTo>
                  <a:cubicBezTo>
                    <a:pt x="1853618" y="921799"/>
                    <a:pt x="1847708" y="936068"/>
                    <a:pt x="1837187" y="946590"/>
                  </a:cubicBezTo>
                  <a:cubicBezTo>
                    <a:pt x="1826666" y="957110"/>
                    <a:pt x="1812396" y="963021"/>
                    <a:pt x="1797517" y="963021"/>
                  </a:cubicBezTo>
                  <a:lnTo>
                    <a:pt x="56101" y="963021"/>
                  </a:lnTo>
                  <a:cubicBezTo>
                    <a:pt x="41222" y="963021"/>
                    <a:pt x="26953" y="957110"/>
                    <a:pt x="16432" y="946590"/>
                  </a:cubicBezTo>
                  <a:cubicBezTo>
                    <a:pt x="5911" y="936068"/>
                    <a:pt x="0" y="921799"/>
                    <a:pt x="0" y="906920"/>
                  </a:cubicBezTo>
                  <a:lnTo>
                    <a:pt x="0" y="56101"/>
                  </a:lnTo>
                  <a:cubicBezTo>
                    <a:pt x="0" y="41222"/>
                    <a:pt x="5911" y="26953"/>
                    <a:pt x="16432" y="16432"/>
                  </a:cubicBezTo>
                  <a:cubicBezTo>
                    <a:pt x="26953" y="5911"/>
                    <a:pt x="41222" y="0"/>
                    <a:pt x="56101" y="0"/>
                  </a:cubicBezTo>
                  <a:close/>
                </a:path>
              </a:pathLst>
            </a:custGeom>
            <a:solidFill>
              <a:srgbClr val="FFDC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53618" cy="1010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37379" y="3249719"/>
            <a:ext cx="9908029" cy="4919409"/>
            <a:chOff x="0" y="0"/>
            <a:chExt cx="2609522" cy="1295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09522" cy="1295647"/>
            </a:xfrm>
            <a:custGeom>
              <a:avLst/>
              <a:gdLst/>
              <a:ahLst/>
              <a:cxnLst/>
              <a:rect r="r" b="b" t="t" l="l"/>
              <a:pathLst>
                <a:path h="1295647" w="2609522">
                  <a:moveTo>
                    <a:pt x="39850" y="0"/>
                  </a:moveTo>
                  <a:lnTo>
                    <a:pt x="2569672" y="0"/>
                  </a:lnTo>
                  <a:cubicBezTo>
                    <a:pt x="2591680" y="0"/>
                    <a:pt x="2609522" y="17842"/>
                    <a:pt x="2609522" y="39850"/>
                  </a:cubicBezTo>
                  <a:lnTo>
                    <a:pt x="2609522" y="1255797"/>
                  </a:lnTo>
                  <a:cubicBezTo>
                    <a:pt x="2609522" y="1266366"/>
                    <a:pt x="2605323" y="1276502"/>
                    <a:pt x="2597850" y="1283975"/>
                  </a:cubicBezTo>
                  <a:cubicBezTo>
                    <a:pt x="2590377" y="1291448"/>
                    <a:pt x="2580241" y="1295647"/>
                    <a:pt x="2569672" y="1295647"/>
                  </a:cubicBezTo>
                  <a:lnTo>
                    <a:pt x="39850" y="1295647"/>
                  </a:lnTo>
                  <a:cubicBezTo>
                    <a:pt x="17842" y="1295647"/>
                    <a:pt x="0" y="1277805"/>
                    <a:pt x="0" y="1255797"/>
                  </a:cubicBezTo>
                  <a:lnTo>
                    <a:pt x="0" y="39850"/>
                  </a:lnTo>
                  <a:cubicBezTo>
                    <a:pt x="0" y="17842"/>
                    <a:pt x="17842" y="0"/>
                    <a:pt x="39850" y="0"/>
                  </a:cubicBezTo>
                  <a:close/>
                </a:path>
              </a:pathLst>
            </a:custGeom>
            <a:solidFill>
              <a:srgbClr val="FFDC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609522" cy="134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31482" y="1460690"/>
            <a:ext cx="3109152" cy="53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  <a:spcBef>
                <a:spcPct val="0"/>
              </a:spcBef>
            </a:pPr>
            <a:r>
              <a:rPr lang="en-US" b="true" sz="3075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Multithreading:-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95232" y="1460690"/>
            <a:ext cx="4372116" cy="53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  <a:spcBef>
                <a:spcPct val="0"/>
              </a:spcBef>
            </a:pPr>
            <a:r>
              <a:rPr lang="en-US" b="true" sz="3075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Exceptional Handling:-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27247" y="1470215"/>
            <a:ext cx="4933080" cy="211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sz="3035" i="true" spc="15">
                <a:solidFill>
                  <a:srgbClr val="2B2C30"/>
                </a:solidFill>
                <a:latin typeface="Comic Sans Italics"/>
                <a:ea typeface="Comic Sans Italics"/>
                <a:cs typeface="Comic Sans Italics"/>
                <a:sym typeface="Comic Sans Italics"/>
              </a:rPr>
              <a:t>⁠Handling invalid inputs gracefully using try-catch blocks</a:t>
            </a:r>
          </a:p>
          <a:p>
            <a:pPr algn="ctr">
              <a:lnSpc>
                <a:spcPts val="425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489764" y="971550"/>
            <a:ext cx="4406163" cy="204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6"/>
              </a:lnSpc>
            </a:pPr>
            <a:r>
              <a:rPr lang="en-US" sz="2933" i="true" spc="14">
                <a:solidFill>
                  <a:srgbClr val="2B2C30"/>
                </a:solidFill>
                <a:latin typeface="Comic Sans Italics"/>
                <a:ea typeface="Comic Sans Italics"/>
                <a:cs typeface="Comic Sans Italics"/>
                <a:sym typeface="Comic Sans Italics"/>
              </a:rPr>
              <a:t>⁠Running tasks in the background without freezing the UI</a:t>
            </a:r>
          </a:p>
          <a:p>
            <a:pPr algn="ctr">
              <a:lnSpc>
                <a:spcPts val="4106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592283" y="3260174"/>
            <a:ext cx="9695717" cy="48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*Class: ⁠ AddExpensePanel.java ⁠*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⁠ java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try {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double amount = Double.parseDouble(amountField.getText());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LocalDate date = LocalDate.parse(dateField.getText());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ExpenseEntry entry = new ExpenseEntry(category, amount, date, description);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user.addExpense(entry);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} catch (NumberFormatException e) {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JOptionPane.showMessageDialog(this, "Invalid amount");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} catch (DateTimeParseException e) {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JOptionPane.showMessageDialog(this, "Invalid date format");</a:t>
            </a:r>
          </a:p>
          <a:p>
            <a:pPr algn="l">
              <a:lnSpc>
                <a:spcPts val="3019"/>
              </a:lnSpc>
            </a:pPr>
            <a:r>
              <a:rPr lang="en-US" sz="2156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}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06289" y="3183044"/>
            <a:ext cx="6068690" cy="477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*Class: ⁠ StatsPanel.java ⁠*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⁠ java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JButton refreshBtn = new JButton("Refresh Stats");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refreshBtn.addActionListener(e -&gt; {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new Thread(() -&gt; {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    updateStats();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    updateCharts();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   }).start(); // background thread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});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sz="2135" i="true" spc="10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 ⁠</a:t>
            </a:r>
          </a:p>
          <a:p>
            <a:pPr algn="ctr">
              <a:lnSpc>
                <a:spcPts val="4250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116785" y="47982"/>
            <a:ext cx="1700754" cy="1345142"/>
          </a:xfrm>
          <a:custGeom>
            <a:avLst/>
            <a:gdLst/>
            <a:ahLst/>
            <a:cxnLst/>
            <a:rect r="r" b="b" t="t" l="l"/>
            <a:pathLst>
              <a:path h="1345142" w="1700754">
                <a:moveTo>
                  <a:pt x="0" y="0"/>
                </a:moveTo>
                <a:lnTo>
                  <a:pt x="1700754" y="0"/>
                </a:lnTo>
                <a:lnTo>
                  <a:pt x="1700754" y="1345141"/>
                </a:lnTo>
                <a:lnTo>
                  <a:pt x="0" y="134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0910" y="126041"/>
            <a:ext cx="2282515" cy="2273385"/>
          </a:xfrm>
          <a:custGeom>
            <a:avLst/>
            <a:gdLst/>
            <a:ahLst/>
            <a:cxnLst/>
            <a:rect r="r" b="b" t="t" l="l"/>
            <a:pathLst>
              <a:path h="2273385" w="2282515">
                <a:moveTo>
                  <a:pt x="0" y="0"/>
                </a:moveTo>
                <a:lnTo>
                  <a:pt x="2282515" y="0"/>
                </a:lnTo>
                <a:lnTo>
                  <a:pt x="2282515" y="2273385"/>
                </a:lnTo>
                <a:lnTo>
                  <a:pt x="0" y="227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2122" y="139350"/>
            <a:ext cx="1888580" cy="1778699"/>
          </a:xfrm>
          <a:custGeom>
            <a:avLst/>
            <a:gdLst/>
            <a:ahLst/>
            <a:cxnLst/>
            <a:rect r="r" b="b" t="t" l="l"/>
            <a:pathLst>
              <a:path h="1778699" w="1888580">
                <a:moveTo>
                  <a:pt x="0" y="0"/>
                </a:moveTo>
                <a:lnTo>
                  <a:pt x="1888580" y="0"/>
                </a:lnTo>
                <a:lnTo>
                  <a:pt x="1888580" y="1778700"/>
                </a:lnTo>
                <a:lnTo>
                  <a:pt x="0" y="177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222" y="174272"/>
            <a:ext cx="17465953" cy="100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Problems Does EMS Solve?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6412" y="2669047"/>
            <a:ext cx="5129064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Not knowing where money goes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6412" y="3809789"/>
            <a:ext cx="4068887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Hard to stick to a budget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6412" y="4848679"/>
            <a:ext cx="5152951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Manual report making is tiring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6516" y="5990771"/>
            <a:ext cx="4888855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Confusion in shared expenses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6516" y="7132862"/>
            <a:ext cx="4792861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Forgetting what you spent 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6516" y="8170178"/>
            <a:ext cx="4792861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Poor financial planning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78391" y="2669047"/>
            <a:ext cx="8934599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Tracks every expense with category, date, and amount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92663" y="3782614"/>
            <a:ext cx="17106054" cy="49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2"/>
              </a:lnSpc>
              <a:spcBef>
                <a:spcPct val="0"/>
              </a:spcBef>
            </a:pPr>
            <a:r>
              <a:rPr lang="en-US" sz="2973" i="true" spc="14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Users set monthly/custom budgets with auto-tracking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8391" y="4848679"/>
            <a:ext cx="8042449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Auto-generates spending reports in a single click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78391" y="5990771"/>
            <a:ext cx="6501110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Split feature calculates who owes whom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31193" y="7132862"/>
            <a:ext cx="7379717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Search, filter, and view historical data easily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78391" y="8227328"/>
            <a:ext cx="9267304" cy="52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Stats like average, max category, trends help plan better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426412" y="4624055"/>
            <a:ext cx="1583288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426412" y="3534964"/>
            <a:ext cx="1583288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46516" y="5714546"/>
            <a:ext cx="157127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426412" y="6856637"/>
            <a:ext cx="1583288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26412" y="7998728"/>
            <a:ext cx="1583288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7331035" y="2398877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1998" y="7258627"/>
            <a:ext cx="5356002" cy="3028373"/>
          </a:xfrm>
          <a:custGeom>
            <a:avLst/>
            <a:gdLst/>
            <a:ahLst/>
            <a:cxnLst/>
            <a:rect r="r" b="b" t="t" l="l"/>
            <a:pathLst>
              <a:path h="3028373" w="5356002">
                <a:moveTo>
                  <a:pt x="0" y="0"/>
                </a:moveTo>
                <a:lnTo>
                  <a:pt x="5356002" y="0"/>
                </a:lnTo>
                <a:lnTo>
                  <a:pt x="5356002" y="3028373"/>
                </a:lnTo>
                <a:lnTo>
                  <a:pt x="0" y="302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3704" y="174272"/>
            <a:ext cx="17384472" cy="100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Inhancements:-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00214" y="680360"/>
            <a:ext cx="8195370" cy="612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  <a:spcBef>
                <a:spcPct val="0"/>
              </a:spcBef>
            </a:pPr>
          </a:p>
          <a:p>
            <a:pPr algn="l">
              <a:lnSpc>
                <a:spcPts val="3536"/>
              </a:lnSpc>
              <a:spcBef>
                <a:spcPct val="0"/>
              </a:spcBef>
            </a:pPr>
          </a:p>
          <a:p>
            <a:pPr algn="just">
              <a:lnSpc>
                <a:spcPts val="4236"/>
              </a:lnSpc>
              <a:spcBef>
                <a:spcPct val="0"/>
              </a:spcBef>
            </a:pPr>
            <a:r>
              <a:rPr lang="en-US" sz="3026" i="true" spc="15">
                <a:solidFill>
                  <a:srgbClr val="000000"/>
                </a:solidFill>
                <a:latin typeface="Comic Sans Italics"/>
                <a:ea typeface="Comic Sans Italics"/>
                <a:cs typeface="Comic Sans Italics"/>
                <a:sym typeface="Comic Sans Italics"/>
              </a:rPr>
              <a:t>5</a:t>
            </a:r>
            <a:r>
              <a:rPr lang="en-US" b="true" sz="3026" i="true" spc="15">
                <a:solidFill>
                  <a:srgbClr val="000000"/>
                </a:solidFill>
                <a:latin typeface="Comic Sans Bold Italics"/>
                <a:ea typeface="Comic Sans Bold Italics"/>
                <a:cs typeface="Comic Sans Bold Italics"/>
                <a:sym typeface="Comic Sans Bold Italics"/>
              </a:rPr>
              <a:t>. Third-Party Integration – EMIs &amp; Bill Reminders</a:t>
            </a:r>
          </a:p>
          <a:p>
            <a:pPr algn="just">
              <a:lnSpc>
                <a:spcPts val="4236"/>
              </a:lnSpc>
              <a:spcBef>
                <a:spcPct val="0"/>
              </a:spcBef>
            </a:pPr>
            <a:r>
              <a:rPr lang="en-US" sz="3026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Allow users to:</a:t>
            </a:r>
          </a:p>
          <a:p>
            <a:pPr algn="just">
              <a:lnSpc>
                <a:spcPts val="4236"/>
              </a:lnSpc>
              <a:spcBef>
                <a:spcPct val="0"/>
              </a:spcBef>
            </a:pPr>
            <a:r>
              <a:rPr lang="en-US" sz="3026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Link EMS with bank SMS/UPI alerts (optional parsing)</a:t>
            </a:r>
          </a:p>
          <a:p>
            <a:pPr algn="just">
              <a:lnSpc>
                <a:spcPts val="4236"/>
              </a:lnSpc>
              <a:spcBef>
                <a:spcPct val="0"/>
              </a:spcBef>
            </a:pPr>
            <a:r>
              <a:rPr lang="en-US" sz="3026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Add monthly bills like EMI, rent, subscriptions</a:t>
            </a:r>
          </a:p>
          <a:p>
            <a:pPr algn="just">
              <a:lnSpc>
                <a:spcPts val="4236"/>
              </a:lnSpc>
              <a:spcBef>
                <a:spcPct val="0"/>
              </a:spcBef>
            </a:pPr>
            <a:r>
              <a:rPr lang="en-US" sz="3026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Set auto-reminders</a:t>
            </a:r>
          </a:p>
          <a:p>
            <a:pPr algn="just">
              <a:lnSpc>
                <a:spcPts val="4236"/>
              </a:lnSpc>
              <a:spcBef>
                <a:spcPct val="0"/>
              </a:spcBef>
            </a:pPr>
            <a:r>
              <a:rPr lang="en-US" sz="3026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Future Goal: Use Razorpay, Paytm, or PhonePe APIs for bill tracking and reminders</a:t>
            </a:r>
          </a:p>
          <a:p>
            <a:pPr algn="l">
              <a:lnSpc>
                <a:spcPts val="3536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3704" y="1517460"/>
            <a:ext cx="8232949" cy="158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425" indent="-327713" lvl="1">
              <a:lnSpc>
                <a:spcPts val="4250"/>
              </a:lnSpc>
              <a:buAutoNum type="arabicPeriod" startAt="1"/>
            </a:pPr>
            <a:r>
              <a:rPr lang="en-US" b="true" sz="3035" i="true" spc="15">
                <a:solidFill>
                  <a:srgbClr val="000000"/>
                </a:solidFill>
                <a:latin typeface="Comic Sans Bold Italics"/>
                <a:ea typeface="Comic Sans Bold Italics"/>
                <a:cs typeface="Comic Sans Bold Italics"/>
                <a:sym typeface="Comic Sans Bold Italics"/>
              </a:rPr>
              <a:t> Persistent Data Storage</a:t>
            </a:r>
          </a:p>
          <a:p>
            <a:pPr algn="l">
              <a:lnSpc>
                <a:spcPts val="4250"/>
              </a:lnSpc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Current: In-memory storage (resets on app close).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80018" y="2821637"/>
            <a:ext cx="8232949" cy="318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b="true" sz="3035" i="true" spc="15">
                <a:solidFill>
                  <a:srgbClr val="000000"/>
                </a:solidFill>
                <a:latin typeface="Comic Sans Bold Italics"/>
                <a:ea typeface="Comic Sans Bold Italics"/>
                <a:cs typeface="Comic Sans Bold Italics"/>
                <a:sym typeface="Comic Sans Bold Italics"/>
              </a:rPr>
              <a:t>2. User Notifications and Alerts</a:t>
            </a:r>
          </a:p>
          <a:p>
            <a:pPr algn="l">
              <a:lnSpc>
                <a:spcPts val="4250"/>
              </a:lnSpc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Send pop-ups or reminders:</a:t>
            </a:r>
          </a:p>
          <a:p>
            <a:pPr algn="l">
              <a:lnSpc>
                <a:spcPts val="4250"/>
              </a:lnSpc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When approaching budget limit</a:t>
            </a:r>
          </a:p>
          <a:p>
            <a:pPr algn="l">
              <a:lnSpc>
                <a:spcPts val="4250"/>
              </a:lnSpc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When a split expense is due</a:t>
            </a:r>
          </a:p>
          <a:p>
            <a:pPr algn="l">
              <a:lnSpc>
                <a:spcPts val="4250"/>
              </a:lnSpc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End-of-month summaries</a:t>
            </a:r>
          </a:p>
          <a:p>
            <a:pPr algn="ctr">
              <a:lnSpc>
                <a:spcPts val="425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80018" y="5550798"/>
            <a:ext cx="7680321" cy="264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b="true" sz="3035" i="true" spc="15">
                <a:solidFill>
                  <a:srgbClr val="000000"/>
                </a:solidFill>
                <a:latin typeface="Comic Sans Bold Italics"/>
                <a:ea typeface="Comic Sans Bold Italics"/>
                <a:cs typeface="Comic Sans Bold Italics"/>
                <a:sym typeface="Comic Sans Bold Italics"/>
              </a:rPr>
              <a:t>3. Graphical Visualization (Enhanced)</a:t>
            </a:r>
          </a:p>
          <a:p>
            <a:pPr algn="l">
              <a:lnSpc>
                <a:spcPts val="4250"/>
              </a:lnSpc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Monthly spend trend (line chart)</a:t>
            </a:r>
          </a:p>
          <a:p>
            <a:pPr algn="l">
              <a:lnSpc>
                <a:spcPts val="4250"/>
              </a:lnSpc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Category-wise breakdown (pie/bar)</a:t>
            </a:r>
          </a:p>
          <a:p>
            <a:pPr algn="l">
              <a:lnSpc>
                <a:spcPts val="4250"/>
              </a:lnSpc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Budget vs actual comparison</a:t>
            </a:r>
          </a:p>
          <a:p>
            <a:pPr algn="l">
              <a:lnSpc>
                <a:spcPts val="425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80018" y="7954118"/>
            <a:ext cx="10285809" cy="158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b="true" sz="3035" i="true" spc="15">
                <a:solidFill>
                  <a:srgbClr val="000000"/>
                </a:solidFill>
                <a:latin typeface="Comic Sans Bold Italics"/>
                <a:ea typeface="Comic Sans Bold Italics"/>
                <a:cs typeface="Comic Sans Bold Italics"/>
                <a:sym typeface="Comic Sans Bold Italics"/>
              </a:rPr>
              <a:t>4</a:t>
            </a:r>
            <a:r>
              <a:rPr lang="en-US" b="true" sz="3035" i="true" spc="15">
                <a:solidFill>
                  <a:srgbClr val="000000"/>
                </a:solidFill>
                <a:latin typeface="Comic Sans Bold Italics"/>
                <a:ea typeface="Comic Sans Bold Italics"/>
                <a:cs typeface="Comic Sans Bold Italics"/>
                <a:sym typeface="Comic Sans Bold Italics"/>
              </a:rPr>
              <a:t>. Cloud Sync &amp; Backup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Backup data to Google Drive, Dropbox, or AWS S3 using APIs.</a:t>
            </a:r>
          </a:p>
          <a:p>
            <a:pPr algn="just">
              <a:lnSpc>
                <a:spcPts val="4250"/>
              </a:lnSpc>
              <a:spcBef>
                <a:spcPct val="0"/>
              </a:spcBef>
            </a:pPr>
            <a:r>
              <a:rPr lang="en-US" sz="3035" i="true" spc="15">
                <a:solidFill>
                  <a:srgbClr val="0000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Cross-device sync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DAGiHMESjiA</dc:identifier>
  <dcterms:modified xsi:type="dcterms:W3CDTF">2011-08-01T06:04:30Z</dcterms:modified>
  <cp:revision>1</cp:revision>
  <dc:title>Expenditure</dc:title>
</cp:coreProperties>
</file>